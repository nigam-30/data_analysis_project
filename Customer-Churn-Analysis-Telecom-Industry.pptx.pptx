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 Bold" panose="020B0604020202020204" charset="0"/>
      <p:regular r:id="rId12"/>
    </p:embeddedFont>
    <p:embeddedFont>
      <p:font typeface="Times New Roman MT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-18755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159" y="3068536"/>
            <a:ext cx="9335691" cy="1611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Customer Churn Analysis – Telecom Industry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159" y="5000920"/>
            <a:ext cx="9335691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Analyst Internship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9" y="5714257"/>
            <a:ext cx="9335691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Presenting a comprehensive analysis of customer churn patterns in the telecom sector, leveraging predictive analytics and machine learning to drive retention strategies.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91201" y="9410637"/>
            <a:ext cx="5387840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-Nigam Pranay Mehta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 sz="24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 sz="24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74885" y="435473"/>
            <a:ext cx="8106819" cy="515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600" dirty="0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Understanding the Business Problem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74887" y="1328890"/>
            <a:ext cx="6256439" cy="6256439"/>
            <a:chOff x="0" y="0"/>
            <a:chExt cx="8341919" cy="834191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8341868" cy="8341868"/>
            </a:xfrm>
            <a:custGeom>
              <a:avLst/>
              <a:gdLst/>
              <a:ahLst/>
              <a:cxnLst/>
              <a:rect l="l" t="t" r="r" b="b"/>
              <a:pathLst>
                <a:path w="8341868" h="8341868">
                  <a:moveTo>
                    <a:pt x="0" y="0"/>
                  </a:moveTo>
                  <a:lnTo>
                    <a:pt x="8341868" y="0"/>
                  </a:lnTo>
                  <a:lnTo>
                    <a:pt x="8341868" y="8341868"/>
                  </a:lnTo>
                  <a:lnTo>
                    <a:pt x="0" y="8341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 sz="24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366199" y="1245546"/>
            <a:ext cx="6256439" cy="1890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800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telecommunications industry faces a significant challenge with customer churn, where subscribers frequently switch service providers. Acquiring new customers costs approximately 5-7 times more than retaining existing ones, making churn reduction a critical business priority.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8829" y="3458017"/>
            <a:ext cx="6256439" cy="165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800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project addresses the need for a robust predictive model that can identify at-risk customers early, enabling proactive retention interventions. The ultimate goal is to reduce revenue loss and improve customer lifetime value through data-driven strategies.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674887" y="7846371"/>
            <a:ext cx="6411068" cy="906513"/>
            <a:chOff x="0" y="0"/>
            <a:chExt cx="8548091" cy="12086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48116" cy="1208786"/>
            </a:xfrm>
            <a:custGeom>
              <a:avLst/>
              <a:gdLst/>
              <a:ahLst/>
              <a:cxnLst/>
              <a:rect l="l" t="t" r="r" b="b"/>
              <a:pathLst>
                <a:path w="8548116" h="1208786">
                  <a:moveTo>
                    <a:pt x="0" y="34925"/>
                  </a:moveTo>
                  <a:cubicBezTo>
                    <a:pt x="0" y="15621"/>
                    <a:pt x="15621" y="0"/>
                    <a:pt x="34925" y="0"/>
                  </a:cubicBezTo>
                  <a:lnTo>
                    <a:pt x="8513191" y="0"/>
                  </a:lnTo>
                  <a:cubicBezTo>
                    <a:pt x="8532495" y="0"/>
                    <a:pt x="8548116" y="15621"/>
                    <a:pt x="8548116" y="34925"/>
                  </a:cubicBezTo>
                  <a:lnTo>
                    <a:pt x="8548116" y="1173861"/>
                  </a:lnTo>
                  <a:cubicBezTo>
                    <a:pt x="8548116" y="1193165"/>
                    <a:pt x="8532495" y="1208786"/>
                    <a:pt x="8513191" y="1208786"/>
                  </a:cubicBezTo>
                  <a:lnTo>
                    <a:pt x="34925" y="1208786"/>
                  </a:lnTo>
                  <a:cubicBezTo>
                    <a:pt x="15621" y="1208659"/>
                    <a:pt x="0" y="1193038"/>
                    <a:pt x="0" y="1173861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 sz="24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49166" y="7973016"/>
            <a:ext cx="2332434" cy="257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Churn 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49166" y="8289284"/>
            <a:ext cx="6062510" cy="23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00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Industry average exceeds 25% annually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01893" y="7846371"/>
            <a:ext cx="6411220" cy="906513"/>
            <a:chOff x="0" y="0"/>
            <a:chExt cx="8548294" cy="12086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48370" cy="1208786"/>
            </a:xfrm>
            <a:custGeom>
              <a:avLst/>
              <a:gdLst/>
              <a:ahLst/>
              <a:cxnLst/>
              <a:rect l="l" t="t" r="r" b="b"/>
              <a:pathLst>
                <a:path w="8548370" h="1208786">
                  <a:moveTo>
                    <a:pt x="0" y="34925"/>
                  </a:moveTo>
                  <a:cubicBezTo>
                    <a:pt x="0" y="15621"/>
                    <a:pt x="15621" y="0"/>
                    <a:pt x="34925" y="0"/>
                  </a:cubicBezTo>
                  <a:lnTo>
                    <a:pt x="8513445" y="0"/>
                  </a:lnTo>
                  <a:cubicBezTo>
                    <a:pt x="8532749" y="0"/>
                    <a:pt x="8548370" y="15621"/>
                    <a:pt x="8548370" y="34925"/>
                  </a:cubicBezTo>
                  <a:lnTo>
                    <a:pt x="8548370" y="1173861"/>
                  </a:lnTo>
                  <a:cubicBezTo>
                    <a:pt x="8548370" y="1193165"/>
                    <a:pt x="8532749" y="1208786"/>
                    <a:pt x="8513445" y="1208786"/>
                  </a:cubicBezTo>
                  <a:lnTo>
                    <a:pt x="34925" y="1208786"/>
                  </a:lnTo>
                  <a:cubicBezTo>
                    <a:pt x="15621" y="1208659"/>
                    <a:pt x="0" y="1193038"/>
                    <a:pt x="0" y="1173861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 sz="240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376172" y="7973016"/>
            <a:ext cx="1666131" cy="257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Retention Focus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6172" y="8289284"/>
            <a:ext cx="6062662" cy="23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Lower cost than acquisition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674887" y="8868813"/>
            <a:ext cx="6411068" cy="906513"/>
            <a:chOff x="0" y="0"/>
            <a:chExt cx="8548091" cy="12086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48116" cy="1208786"/>
            </a:xfrm>
            <a:custGeom>
              <a:avLst/>
              <a:gdLst/>
              <a:ahLst/>
              <a:cxnLst/>
              <a:rect l="l" t="t" r="r" b="b"/>
              <a:pathLst>
                <a:path w="8548116" h="1208786">
                  <a:moveTo>
                    <a:pt x="0" y="34925"/>
                  </a:moveTo>
                  <a:cubicBezTo>
                    <a:pt x="0" y="15621"/>
                    <a:pt x="15621" y="0"/>
                    <a:pt x="34925" y="0"/>
                  </a:cubicBezTo>
                  <a:lnTo>
                    <a:pt x="8513191" y="0"/>
                  </a:lnTo>
                  <a:cubicBezTo>
                    <a:pt x="8532495" y="0"/>
                    <a:pt x="8548116" y="15621"/>
                    <a:pt x="8548116" y="34925"/>
                  </a:cubicBezTo>
                  <a:lnTo>
                    <a:pt x="8548116" y="1173861"/>
                  </a:lnTo>
                  <a:cubicBezTo>
                    <a:pt x="8548116" y="1193165"/>
                    <a:pt x="8532495" y="1208786"/>
                    <a:pt x="8513191" y="1208786"/>
                  </a:cubicBezTo>
                  <a:lnTo>
                    <a:pt x="34925" y="1208786"/>
                  </a:lnTo>
                  <a:cubicBezTo>
                    <a:pt x="15621" y="1208659"/>
                    <a:pt x="0" y="1193038"/>
                    <a:pt x="0" y="1173861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 sz="24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849166" y="8995467"/>
            <a:ext cx="1956139" cy="257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Predictive Model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49166" y="9311726"/>
            <a:ext cx="6062510" cy="23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Early identification of at-risk customers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01893" y="8868813"/>
            <a:ext cx="6411220" cy="906513"/>
            <a:chOff x="0" y="0"/>
            <a:chExt cx="8548294" cy="12086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48370" cy="1208786"/>
            </a:xfrm>
            <a:custGeom>
              <a:avLst/>
              <a:gdLst/>
              <a:ahLst/>
              <a:cxnLst/>
              <a:rect l="l" t="t" r="r" b="b"/>
              <a:pathLst>
                <a:path w="8548370" h="1208786">
                  <a:moveTo>
                    <a:pt x="0" y="34925"/>
                  </a:moveTo>
                  <a:cubicBezTo>
                    <a:pt x="0" y="15621"/>
                    <a:pt x="15621" y="0"/>
                    <a:pt x="34925" y="0"/>
                  </a:cubicBezTo>
                  <a:lnTo>
                    <a:pt x="8513445" y="0"/>
                  </a:lnTo>
                  <a:cubicBezTo>
                    <a:pt x="8532749" y="0"/>
                    <a:pt x="8548370" y="15621"/>
                    <a:pt x="8548370" y="34925"/>
                  </a:cubicBezTo>
                  <a:lnTo>
                    <a:pt x="8548370" y="1173861"/>
                  </a:lnTo>
                  <a:cubicBezTo>
                    <a:pt x="8548370" y="1193165"/>
                    <a:pt x="8532749" y="1208786"/>
                    <a:pt x="8513445" y="1208786"/>
                  </a:cubicBezTo>
                  <a:lnTo>
                    <a:pt x="34925" y="1208786"/>
                  </a:lnTo>
                  <a:cubicBezTo>
                    <a:pt x="15621" y="1208659"/>
                    <a:pt x="0" y="1193038"/>
                    <a:pt x="0" y="1173861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 sz="24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376172" y="8995467"/>
            <a:ext cx="2130028" cy="257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Revenue Protection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76172" y="9311726"/>
            <a:ext cx="6062662" cy="23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Reduce financial impact of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05159" y="805015"/>
            <a:ext cx="9335691" cy="84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Overview &amp; Key Statistics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5159" y="2737399"/>
            <a:ext cx="9335691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analysis utilized a comprehensive telecom dataset containing 5,000 customer records with 13 distinct features. The target variable represents churn status (Yes/No), with an overall churn rate of approximately 38%, reflecting typical industry patterns.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78582" y="4542977"/>
            <a:ext cx="1946821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5,000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52066" y="5667375"/>
            <a:ext cx="23998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Customer Records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05159" y="6152255"/>
            <a:ext cx="2893666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Total number of subscribers analyzed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44304" y="4542977"/>
            <a:ext cx="85725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15270" y="5667375"/>
            <a:ext cx="111531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26095" y="6152255"/>
            <a:ext cx="2893666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Demographic, behavioral, and service attributes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12442" y="4542977"/>
            <a:ext cx="156284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38%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32088" y="5667375"/>
            <a:ext cx="15235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Churn Rate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47031" y="6152255"/>
            <a:ext cx="2893666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Proportion of customers who cancelled services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905159" y="7408221"/>
            <a:ext cx="9335691" cy="1949948"/>
            <a:chOff x="0" y="0"/>
            <a:chExt cx="12447588" cy="259993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47524" cy="2599944"/>
            </a:xfrm>
            <a:custGeom>
              <a:avLst/>
              <a:gdLst/>
              <a:ahLst/>
              <a:cxnLst/>
              <a:rect l="l" t="t" r="r" b="b"/>
              <a:pathLst>
                <a:path w="12447524" h="2599944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2395200" y="0"/>
                  </a:lnTo>
                  <a:cubicBezTo>
                    <a:pt x="12424156" y="0"/>
                    <a:pt x="12447524" y="23495"/>
                    <a:pt x="12447524" y="52324"/>
                  </a:cubicBezTo>
                  <a:lnTo>
                    <a:pt x="12447524" y="2547620"/>
                  </a:lnTo>
                  <a:cubicBezTo>
                    <a:pt x="12447524" y="2576576"/>
                    <a:pt x="12424029" y="2599944"/>
                    <a:pt x="12395200" y="2599944"/>
                  </a:cubicBezTo>
                  <a:lnTo>
                    <a:pt x="52324" y="2599944"/>
                  </a:lnTo>
                  <a:cubicBezTo>
                    <a:pt x="23368" y="2599944"/>
                    <a:pt x="0" y="2576449"/>
                    <a:pt x="0" y="2547620"/>
                  </a:cubicBezTo>
                  <a:close/>
                </a:path>
              </a:pathLst>
            </a:custGeom>
            <a:solidFill>
              <a:srgbClr val="49042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66945" y="7791898"/>
            <a:ext cx="327269" cy="261785"/>
            <a:chOff x="0" y="0"/>
            <a:chExt cx="436359" cy="349047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436372" cy="348996"/>
            </a:xfrm>
            <a:custGeom>
              <a:avLst/>
              <a:gdLst/>
              <a:ahLst/>
              <a:cxnLst/>
              <a:rect l="l" t="t" r="r" b="b"/>
              <a:pathLst>
                <a:path w="436372" h="348996">
                  <a:moveTo>
                    <a:pt x="0" y="0"/>
                  </a:moveTo>
                  <a:lnTo>
                    <a:pt x="436372" y="0"/>
                  </a:lnTo>
                  <a:lnTo>
                    <a:pt x="436372" y="348996"/>
                  </a:lnTo>
                  <a:lnTo>
                    <a:pt x="0" y="348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3" r="-363" b="-1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756009" y="7611513"/>
            <a:ext cx="8223047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Quality: Dataset included contract details, tenure, monthly charges, complaint history, and recharge patterns, enabling comprehensive churn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159" y="1087336"/>
            <a:ext cx="10457557" cy="84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Exploratory Data Analysis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159" y="2380802"/>
            <a:ext cx="16193691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Initial analysis revealed several critical patterns that significantly correlate with customer churn behavior. These insights formed the foundation for feature engineering and model development.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32872" y="3622472"/>
            <a:ext cx="7994447" cy="2826544"/>
            <a:chOff x="0" y="0"/>
            <a:chExt cx="10659262" cy="3768725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10621137" cy="3730625"/>
            </a:xfrm>
            <a:custGeom>
              <a:avLst/>
              <a:gdLst/>
              <a:ahLst/>
              <a:cxnLst/>
              <a:rect l="l" t="t" r="r" b="b"/>
              <a:pathLst>
                <a:path w="10621137" h="3730625">
                  <a:moveTo>
                    <a:pt x="0" y="182880"/>
                  </a:moveTo>
                  <a:cubicBezTo>
                    <a:pt x="0" y="81915"/>
                    <a:pt x="82423" y="0"/>
                    <a:pt x="184023" y="0"/>
                  </a:cubicBezTo>
                  <a:lnTo>
                    <a:pt x="10437114" y="0"/>
                  </a:lnTo>
                  <a:cubicBezTo>
                    <a:pt x="10538841" y="0"/>
                    <a:pt x="10621137" y="81915"/>
                    <a:pt x="10621137" y="182880"/>
                  </a:cubicBezTo>
                  <a:lnTo>
                    <a:pt x="10621137" y="3547745"/>
                  </a:lnTo>
                  <a:cubicBezTo>
                    <a:pt x="10621137" y="3648710"/>
                    <a:pt x="10538714" y="3730625"/>
                    <a:pt x="10437114" y="3730625"/>
                  </a:cubicBezTo>
                  <a:lnTo>
                    <a:pt x="184023" y="3730625"/>
                  </a:lnTo>
                  <a:cubicBezTo>
                    <a:pt x="82296" y="3730625"/>
                    <a:pt x="0" y="3648710"/>
                    <a:pt x="0" y="3547745"/>
                  </a:cubicBez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0659237" cy="3768725"/>
            </a:xfrm>
            <a:custGeom>
              <a:avLst/>
              <a:gdLst/>
              <a:ahLst/>
              <a:cxnLst/>
              <a:rect l="l" t="t" r="r" b="b"/>
              <a:pathLst>
                <a:path w="10659237" h="3768725">
                  <a:moveTo>
                    <a:pt x="0" y="201930"/>
                  </a:moveTo>
                  <a:cubicBezTo>
                    <a:pt x="0" y="90297"/>
                    <a:pt x="91059" y="0"/>
                    <a:pt x="203073" y="0"/>
                  </a:cubicBezTo>
                  <a:lnTo>
                    <a:pt x="10456164" y="0"/>
                  </a:lnTo>
                  <a:lnTo>
                    <a:pt x="10456164" y="19050"/>
                  </a:lnTo>
                  <a:lnTo>
                    <a:pt x="10456164" y="0"/>
                  </a:lnTo>
                  <a:cubicBezTo>
                    <a:pt x="10568178" y="0"/>
                    <a:pt x="10659237" y="90297"/>
                    <a:pt x="10659237" y="201930"/>
                  </a:cubicBezTo>
                  <a:lnTo>
                    <a:pt x="10640187" y="201930"/>
                  </a:lnTo>
                  <a:lnTo>
                    <a:pt x="10659237" y="201930"/>
                  </a:lnTo>
                  <a:lnTo>
                    <a:pt x="10659237" y="3566795"/>
                  </a:lnTo>
                  <a:lnTo>
                    <a:pt x="10640187" y="3566795"/>
                  </a:lnTo>
                  <a:lnTo>
                    <a:pt x="10659237" y="3566795"/>
                  </a:lnTo>
                  <a:cubicBezTo>
                    <a:pt x="10659237" y="3678428"/>
                    <a:pt x="10568178" y="3768725"/>
                    <a:pt x="10456164" y="3768725"/>
                  </a:cubicBezTo>
                  <a:lnTo>
                    <a:pt x="10456164" y="3749675"/>
                  </a:lnTo>
                  <a:lnTo>
                    <a:pt x="10456164" y="3768725"/>
                  </a:lnTo>
                  <a:lnTo>
                    <a:pt x="203073" y="3768725"/>
                  </a:lnTo>
                  <a:lnTo>
                    <a:pt x="203073" y="3749675"/>
                  </a:lnTo>
                  <a:lnTo>
                    <a:pt x="203073" y="3768725"/>
                  </a:lnTo>
                  <a:cubicBezTo>
                    <a:pt x="91059" y="3768725"/>
                    <a:pt x="0" y="3678428"/>
                    <a:pt x="0" y="356679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566795"/>
                  </a:lnTo>
                  <a:lnTo>
                    <a:pt x="19050" y="3566795"/>
                  </a:lnTo>
                  <a:lnTo>
                    <a:pt x="38100" y="3566795"/>
                  </a:lnTo>
                  <a:cubicBezTo>
                    <a:pt x="38100" y="3657092"/>
                    <a:pt x="111887" y="3730625"/>
                    <a:pt x="203073" y="3730625"/>
                  </a:cubicBezTo>
                  <a:lnTo>
                    <a:pt x="10456164" y="3730625"/>
                  </a:lnTo>
                  <a:cubicBezTo>
                    <a:pt x="10547477" y="3730625"/>
                    <a:pt x="10621137" y="3657219"/>
                    <a:pt x="10621137" y="3566795"/>
                  </a:cubicBezTo>
                  <a:lnTo>
                    <a:pt x="10621137" y="201930"/>
                  </a:lnTo>
                  <a:cubicBezTo>
                    <a:pt x="10621137" y="111633"/>
                    <a:pt x="10547350" y="38100"/>
                    <a:pt x="10456164" y="38100"/>
                  </a:cubicBezTo>
                  <a:lnTo>
                    <a:pt x="203073" y="38100"/>
                  </a:lnTo>
                  <a:lnTo>
                    <a:pt x="203073" y="19050"/>
                  </a:lnTo>
                  <a:lnTo>
                    <a:pt x="203073" y="38100"/>
                  </a:lnTo>
                  <a:cubicBezTo>
                    <a:pt x="111887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F98AC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8584" y="3636759"/>
            <a:ext cx="114300" cy="2797969"/>
            <a:chOff x="0" y="0"/>
            <a:chExt cx="152400" cy="37306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" cy="3730498"/>
            </a:xfrm>
            <a:custGeom>
              <a:avLst/>
              <a:gdLst/>
              <a:ahLst/>
              <a:cxnLst/>
              <a:rect l="l" t="t" r="r" b="b"/>
              <a:pathLst>
                <a:path w="152400" h="3730498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0076" y="0"/>
                  </a:lnTo>
                  <a:cubicBezTo>
                    <a:pt x="128905" y="0"/>
                    <a:pt x="152400" y="23495"/>
                    <a:pt x="152400" y="52324"/>
                  </a:cubicBezTo>
                  <a:lnTo>
                    <a:pt x="152400" y="3678174"/>
                  </a:lnTo>
                  <a:cubicBezTo>
                    <a:pt x="152400" y="3707130"/>
                    <a:pt x="128905" y="3730498"/>
                    <a:pt x="100076" y="3730498"/>
                  </a:cubicBezTo>
                  <a:lnTo>
                    <a:pt x="52324" y="3730498"/>
                  </a:lnTo>
                  <a:cubicBezTo>
                    <a:pt x="23368" y="3730498"/>
                    <a:pt x="0" y="3707003"/>
                    <a:pt x="0" y="3678174"/>
                  </a:cubicBezTo>
                  <a:close/>
                </a:path>
              </a:pathLst>
            </a:custGeom>
            <a:solidFill>
              <a:srgbClr val="F98AC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3245" y="3860454"/>
            <a:ext cx="304710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Contract Type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3245" y="4345334"/>
            <a:ext cx="7299427" cy="165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Customers with month-to-month contracts demonstrated substantially higher churn rates compared to those with fixed-term agreements (12+ months). Contract flexibility appears inversely related to retention.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60529" y="3622472"/>
            <a:ext cx="7994599" cy="2826544"/>
            <a:chOff x="0" y="0"/>
            <a:chExt cx="10659466" cy="3768725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10621264" cy="3730625"/>
            </a:xfrm>
            <a:custGeom>
              <a:avLst/>
              <a:gdLst/>
              <a:ahLst/>
              <a:cxnLst/>
              <a:rect l="l" t="t" r="r" b="b"/>
              <a:pathLst>
                <a:path w="10621264" h="3730625">
                  <a:moveTo>
                    <a:pt x="0" y="182880"/>
                  </a:moveTo>
                  <a:cubicBezTo>
                    <a:pt x="0" y="81915"/>
                    <a:pt x="82423" y="0"/>
                    <a:pt x="184023" y="0"/>
                  </a:cubicBezTo>
                  <a:lnTo>
                    <a:pt x="10437241" y="0"/>
                  </a:lnTo>
                  <a:cubicBezTo>
                    <a:pt x="10538968" y="0"/>
                    <a:pt x="10621264" y="81915"/>
                    <a:pt x="10621264" y="182880"/>
                  </a:cubicBezTo>
                  <a:lnTo>
                    <a:pt x="10621264" y="3547745"/>
                  </a:lnTo>
                  <a:cubicBezTo>
                    <a:pt x="10621264" y="3648710"/>
                    <a:pt x="10538841" y="3730625"/>
                    <a:pt x="10437241" y="3730625"/>
                  </a:cubicBezTo>
                  <a:lnTo>
                    <a:pt x="184023" y="3730625"/>
                  </a:lnTo>
                  <a:cubicBezTo>
                    <a:pt x="82296" y="3730625"/>
                    <a:pt x="0" y="3648710"/>
                    <a:pt x="0" y="3547745"/>
                  </a:cubicBez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0659364" cy="3768725"/>
            </a:xfrm>
            <a:custGeom>
              <a:avLst/>
              <a:gdLst/>
              <a:ahLst/>
              <a:cxnLst/>
              <a:rect l="l" t="t" r="r" b="b"/>
              <a:pathLst>
                <a:path w="10659364" h="3768725">
                  <a:moveTo>
                    <a:pt x="0" y="201930"/>
                  </a:moveTo>
                  <a:cubicBezTo>
                    <a:pt x="0" y="90297"/>
                    <a:pt x="91059" y="0"/>
                    <a:pt x="203073" y="0"/>
                  </a:cubicBezTo>
                  <a:lnTo>
                    <a:pt x="10456291" y="0"/>
                  </a:lnTo>
                  <a:lnTo>
                    <a:pt x="10456291" y="19050"/>
                  </a:lnTo>
                  <a:lnTo>
                    <a:pt x="10456291" y="0"/>
                  </a:lnTo>
                  <a:cubicBezTo>
                    <a:pt x="10568305" y="0"/>
                    <a:pt x="10659364" y="90297"/>
                    <a:pt x="10659364" y="201930"/>
                  </a:cubicBezTo>
                  <a:lnTo>
                    <a:pt x="10640314" y="201930"/>
                  </a:lnTo>
                  <a:lnTo>
                    <a:pt x="10659364" y="201930"/>
                  </a:lnTo>
                  <a:lnTo>
                    <a:pt x="10659364" y="3566795"/>
                  </a:lnTo>
                  <a:lnTo>
                    <a:pt x="10640314" y="3566795"/>
                  </a:lnTo>
                  <a:lnTo>
                    <a:pt x="10659364" y="3566795"/>
                  </a:lnTo>
                  <a:cubicBezTo>
                    <a:pt x="10659364" y="3678428"/>
                    <a:pt x="10568305" y="3768725"/>
                    <a:pt x="10456291" y="3768725"/>
                  </a:cubicBezTo>
                  <a:lnTo>
                    <a:pt x="10456291" y="3749675"/>
                  </a:lnTo>
                  <a:lnTo>
                    <a:pt x="10456291" y="3768725"/>
                  </a:lnTo>
                  <a:lnTo>
                    <a:pt x="203073" y="3768725"/>
                  </a:lnTo>
                  <a:lnTo>
                    <a:pt x="203073" y="3749675"/>
                  </a:lnTo>
                  <a:lnTo>
                    <a:pt x="203073" y="3768725"/>
                  </a:lnTo>
                  <a:cubicBezTo>
                    <a:pt x="91059" y="3768725"/>
                    <a:pt x="0" y="3678428"/>
                    <a:pt x="0" y="356679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566795"/>
                  </a:lnTo>
                  <a:lnTo>
                    <a:pt x="19050" y="3566795"/>
                  </a:lnTo>
                  <a:lnTo>
                    <a:pt x="38100" y="3566795"/>
                  </a:lnTo>
                  <a:cubicBezTo>
                    <a:pt x="38100" y="3657092"/>
                    <a:pt x="111887" y="3730625"/>
                    <a:pt x="203073" y="3730625"/>
                  </a:cubicBezTo>
                  <a:lnTo>
                    <a:pt x="10456291" y="3730625"/>
                  </a:lnTo>
                  <a:cubicBezTo>
                    <a:pt x="10547604" y="3730625"/>
                    <a:pt x="10621264" y="3657219"/>
                    <a:pt x="10621264" y="3566795"/>
                  </a:cubicBezTo>
                  <a:lnTo>
                    <a:pt x="10621264" y="201930"/>
                  </a:lnTo>
                  <a:cubicBezTo>
                    <a:pt x="10621264" y="111633"/>
                    <a:pt x="10547477" y="38100"/>
                    <a:pt x="10456291" y="38100"/>
                  </a:cubicBezTo>
                  <a:lnTo>
                    <a:pt x="203073" y="38100"/>
                  </a:lnTo>
                  <a:lnTo>
                    <a:pt x="203073" y="19050"/>
                  </a:lnTo>
                  <a:lnTo>
                    <a:pt x="203073" y="38100"/>
                  </a:lnTo>
                  <a:cubicBezTo>
                    <a:pt x="111887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F98AC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46241" y="3636759"/>
            <a:ext cx="114300" cy="2797969"/>
            <a:chOff x="0" y="0"/>
            <a:chExt cx="152400" cy="3730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400" cy="3730498"/>
            </a:xfrm>
            <a:custGeom>
              <a:avLst/>
              <a:gdLst/>
              <a:ahLst/>
              <a:cxnLst/>
              <a:rect l="l" t="t" r="r" b="b"/>
              <a:pathLst>
                <a:path w="152400" h="3730498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0076" y="0"/>
                  </a:lnTo>
                  <a:cubicBezTo>
                    <a:pt x="128905" y="0"/>
                    <a:pt x="152400" y="23495"/>
                    <a:pt x="152400" y="52324"/>
                  </a:cubicBezTo>
                  <a:lnTo>
                    <a:pt x="152400" y="3678174"/>
                  </a:lnTo>
                  <a:cubicBezTo>
                    <a:pt x="152400" y="3707130"/>
                    <a:pt x="128905" y="3730498"/>
                    <a:pt x="100076" y="3730498"/>
                  </a:cubicBezTo>
                  <a:lnTo>
                    <a:pt x="52324" y="3730498"/>
                  </a:lnTo>
                  <a:cubicBezTo>
                    <a:pt x="23368" y="3730498"/>
                    <a:pt x="0" y="3707003"/>
                    <a:pt x="0" y="3678174"/>
                  </a:cubicBezTo>
                  <a:close/>
                </a:path>
              </a:pathLst>
            </a:custGeom>
            <a:solidFill>
              <a:srgbClr val="F98AC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650911" y="3860454"/>
            <a:ext cx="190380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Tenure Impact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50911" y="4345334"/>
            <a:ext cx="7299569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Low-tenure customers (less than 6 months) showed elevated churn risk. Customer loyalty increases significantly after the initial six-month period, suggesting the importance of early retention efforts.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32872" y="6682235"/>
            <a:ext cx="7994447" cy="2407739"/>
            <a:chOff x="0" y="0"/>
            <a:chExt cx="10659262" cy="3210319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10621137" cy="3172206"/>
            </a:xfrm>
            <a:custGeom>
              <a:avLst/>
              <a:gdLst/>
              <a:ahLst/>
              <a:cxnLst/>
              <a:rect l="l" t="t" r="r" b="b"/>
              <a:pathLst>
                <a:path w="10621137" h="3172206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10436733" y="0"/>
                  </a:lnTo>
                  <a:cubicBezTo>
                    <a:pt x="10538587" y="0"/>
                    <a:pt x="10621137" y="81915"/>
                    <a:pt x="10621137" y="182880"/>
                  </a:cubicBezTo>
                  <a:lnTo>
                    <a:pt x="10621137" y="2989326"/>
                  </a:lnTo>
                  <a:cubicBezTo>
                    <a:pt x="10621137" y="3090291"/>
                    <a:pt x="10538587" y="3172206"/>
                    <a:pt x="10436733" y="3172206"/>
                  </a:cubicBezTo>
                  <a:lnTo>
                    <a:pt x="184404" y="3172206"/>
                  </a:lnTo>
                  <a:cubicBezTo>
                    <a:pt x="82550" y="3172206"/>
                    <a:pt x="0" y="3090291"/>
                    <a:pt x="0" y="2989326"/>
                  </a:cubicBez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10659237" cy="3210306"/>
            </a:xfrm>
            <a:custGeom>
              <a:avLst/>
              <a:gdLst/>
              <a:ahLst/>
              <a:cxnLst/>
              <a:rect l="l" t="t" r="r" b="b"/>
              <a:pathLst>
                <a:path w="10659237" h="3210306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10455783" y="0"/>
                  </a:lnTo>
                  <a:lnTo>
                    <a:pt x="10455783" y="19050"/>
                  </a:lnTo>
                  <a:lnTo>
                    <a:pt x="10455783" y="0"/>
                  </a:lnTo>
                  <a:cubicBezTo>
                    <a:pt x="10568051" y="0"/>
                    <a:pt x="10659237" y="90297"/>
                    <a:pt x="10659237" y="201930"/>
                  </a:cubicBezTo>
                  <a:lnTo>
                    <a:pt x="10640187" y="201930"/>
                  </a:lnTo>
                  <a:lnTo>
                    <a:pt x="10659237" y="201930"/>
                  </a:lnTo>
                  <a:lnTo>
                    <a:pt x="10659237" y="3008376"/>
                  </a:lnTo>
                  <a:lnTo>
                    <a:pt x="10640187" y="3008376"/>
                  </a:lnTo>
                  <a:lnTo>
                    <a:pt x="10659237" y="3008376"/>
                  </a:lnTo>
                  <a:cubicBezTo>
                    <a:pt x="10659237" y="3120009"/>
                    <a:pt x="10568051" y="3210306"/>
                    <a:pt x="10455783" y="3210306"/>
                  </a:cubicBezTo>
                  <a:lnTo>
                    <a:pt x="10455783" y="3191256"/>
                  </a:lnTo>
                  <a:lnTo>
                    <a:pt x="10455783" y="3210306"/>
                  </a:lnTo>
                  <a:lnTo>
                    <a:pt x="203454" y="3210306"/>
                  </a:lnTo>
                  <a:lnTo>
                    <a:pt x="203454" y="3191256"/>
                  </a:lnTo>
                  <a:lnTo>
                    <a:pt x="203454" y="3210306"/>
                  </a:lnTo>
                  <a:cubicBezTo>
                    <a:pt x="91186" y="3210306"/>
                    <a:pt x="0" y="3120009"/>
                    <a:pt x="0" y="300837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008376"/>
                  </a:lnTo>
                  <a:lnTo>
                    <a:pt x="19050" y="3008376"/>
                  </a:lnTo>
                  <a:lnTo>
                    <a:pt x="38100" y="3008376"/>
                  </a:lnTo>
                  <a:cubicBezTo>
                    <a:pt x="38100" y="3098673"/>
                    <a:pt x="112014" y="3172206"/>
                    <a:pt x="203454" y="3172206"/>
                  </a:cubicBezTo>
                  <a:lnTo>
                    <a:pt x="10455783" y="3172206"/>
                  </a:lnTo>
                  <a:cubicBezTo>
                    <a:pt x="10547223" y="3172206"/>
                    <a:pt x="10621137" y="3098673"/>
                    <a:pt x="10621137" y="3008376"/>
                  </a:cubicBezTo>
                  <a:lnTo>
                    <a:pt x="10621137" y="201930"/>
                  </a:lnTo>
                  <a:cubicBezTo>
                    <a:pt x="10621137" y="111633"/>
                    <a:pt x="10547223" y="38100"/>
                    <a:pt x="10455783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F98AC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18584" y="6696523"/>
            <a:ext cx="114300" cy="2379164"/>
            <a:chOff x="0" y="0"/>
            <a:chExt cx="152400" cy="31722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2400" cy="3172206"/>
            </a:xfrm>
            <a:custGeom>
              <a:avLst/>
              <a:gdLst/>
              <a:ahLst/>
              <a:cxnLst/>
              <a:rect l="l" t="t" r="r" b="b"/>
              <a:pathLst>
                <a:path w="152400" h="317220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0076" y="0"/>
                  </a:lnTo>
                  <a:cubicBezTo>
                    <a:pt x="128905" y="0"/>
                    <a:pt x="152400" y="23495"/>
                    <a:pt x="152400" y="52324"/>
                  </a:cubicBezTo>
                  <a:lnTo>
                    <a:pt x="152400" y="3119882"/>
                  </a:lnTo>
                  <a:cubicBezTo>
                    <a:pt x="152400" y="3148838"/>
                    <a:pt x="128905" y="3172206"/>
                    <a:pt x="100076" y="3172206"/>
                  </a:cubicBezTo>
                  <a:lnTo>
                    <a:pt x="52324" y="3172206"/>
                  </a:lnTo>
                  <a:cubicBezTo>
                    <a:pt x="23368" y="3172206"/>
                    <a:pt x="0" y="3148711"/>
                    <a:pt x="0" y="3119882"/>
                  </a:cubicBezTo>
                  <a:close/>
                </a:path>
              </a:pathLst>
            </a:custGeom>
            <a:solidFill>
              <a:srgbClr val="F98AC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23245" y="6920208"/>
            <a:ext cx="281820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Complaint Frequency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3245" y="7405097"/>
            <a:ext cx="7299427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complaint counts emerged as a strong churn indicator. Customers filing multiple complaints within 90 days were 3.5x more likely to churn, highlighting service quality importance.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60529" y="6682235"/>
            <a:ext cx="7994599" cy="2407739"/>
            <a:chOff x="0" y="0"/>
            <a:chExt cx="10659466" cy="3210319"/>
          </a:xfrm>
        </p:grpSpPr>
        <p:sp>
          <p:nvSpPr>
            <p:cNvPr id="30" name="Freeform 30"/>
            <p:cNvSpPr/>
            <p:nvPr/>
          </p:nvSpPr>
          <p:spPr>
            <a:xfrm>
              <a:off x="19050" y="19050"/>
              <a:ext cx="10621391" cy="3172206"/>
            </a:xfrm>
            <a:custGeom>
              <a:avLst/>
              <a:gdLst/>
              <a:ahLst/>
              <a:cxnLst/>
              <a:rect l="l" t="t" r="r" b="b"/>
              <a:pathLst>
                <a:path w="10621391" h="3172206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10436987" y="0"/>
                  </a:lnTo>
                  <a:cubicBezTo>
                    <a:pt x="10538841" y="0"/>
                    <a:pt x="10621391" y="81915"/>
                    <a:pt x="10621391" y="182880"/>
                  </a:cubicBezTo>
                  <a:lnTo>
                    <a:pt x="10621391" y="2989326"/>
                  </a:lnTo>
                  <a:cubicBezTo>
                    <a:pt x="10621391" y="3090291"/>
                    <a:pt x="10538841" y="3172206"/>
                    <a:pt x="10436987" y="3172206"/>
                  </a:cubicBezTo>
                  <a:lnTo>
                    <a:pt x="184404" y="3172206"/>
                  </a:lnTo>
                  <a:cubicBezTo>
                    <a:pt x="82550" y="3172206"/>
                    <a:pt x="0" y="3090291"/>
                    <a:pt x="0" y="2989326"/>
                  </a:cubicBez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10659491" cy="3210306"/>
            </a:xfrm>
            <a:custGeom>
              <a:avLst/>
              <a:gdLst/>
              <a:ahLst/>
              <a:cxnLst/>
              <a:rect l="l" t="t" r="r" b="b"/>
              <a:pathLst>
                <a:path w="10659491" h="3210306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10456037" y="0"/>
                  </a:lnTo>
                  <a:lnTo>
                    <a:pt x="10456037" y="19050"/>
                  </a:lnTo>
                  <a:lnTo>
                    <a:pt x="10456037" y="0"/>
                  </a:lnTo>
                  <a:cubicBezTo>
                    <a:pt x="10568305" y="0"/>
                    <a:pt x="10659491" y="90297"/>
                    <a:pt x="10659491" y="201930"/>
                  </a:cubicBezTo>
                  <a:lnTo>
                    <a:pt x="10640441" y="201930"/>
                  </a:lnTo>
                  <a:lnTo>
                    <a:pt x="10659491" y="201930"/>
                  </a:lnTo>
                  <a:lnTo>
                    <a:pt x="10659491" y="3008376"/>
                  </a:lnTo>
                  <a:lnTo>
                    <a:pt x="10640441" y="3008376"/>
                  </a:lnTo>
                  <a:lnTo>
                    <a:pt x="10659491" y="3008376"/>
                  </a:lnTo>
                  <a:cubicBezTo>
                    <a:pt x="10659491" y="3120009"/>
                    <a:pt x="10568305" y="3210306"/>
                    <a:pt x="10456037" y="3210306"/>
                  </a:cubicBezTo>
                  <a:lnTo>
                    <a:pt x="10456037" y="3191256"/>
                  </a:lnTo>
                  <a:lnTo>
                    <a:pt x="10456037" y="3210306"/>
                  </a:lnTo>
                  <a:lnTo>
                    <a:pt x="203454" y="3210306"/>
                  </a:lnTo>
                  <a:lnTo>
                    <a:pt x="203454" y="3191256"/>
                  </a:lnTo>
                  <a:lnTo>
                    <a:pt x="203454" y="3210306"/>
                  </a:lnTo>
                  <a:cubicBezTo>
                    <a:pt x="91186" y="3210306"/>
                    <a:pt x="0" y="3120009"/>
                    <a:pt x="0" y="300837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008376"/>
                  </a:lnTo>
                  <a:lnTo>
                    <a:pt x="19050" y="3008376"/>
                  </a:lnTo>
                  <a:lnTo>
                    <a:pt x="38100" y="3008376"/>
                  </a:lnTo>
                  <a:cubicBezTo>
                    <a:pt x="38100" y="3098673"/>
                    <a:pt x="112014" y="3172206"/>
                    <a:pt x="203454" y="3172206"/>
                  </a:cubicBezTo>
                  <a:lnTo>
                    <a:pt x="10456037" y="3172206"/>
                  </a:lnTo>
                  <a:cubicBezTo>
                    <a:pt x="10547477" y="3172206"/>
                    <a:pt x="10621391" y="3098673"/>
                    <a:pt x="10621391" y="3008376"/>
                  </a:cubicBezTo>
                  <a:lnTo>
                    <a:pt x="10621391" y="201930"/>
                  </a:lnTo>
                  <a:cubicBezTo>
                    <a:pt x="10621391" y="111633"/>
                    <a:pt x="10547477" y="38100"/>
                    <a:pt x="10456037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F98AC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46241" y="6696523"/>
            <a:ext cx="114300" cy="2379164"/>
            <a:chOff x="0" y="0"/>
            <a:chExt cx="152400" cy="31722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2400" cy="3172206"/>
            </a:xfrm>
            <a:custGeom>
              <a:avLst/>
              <a:gdLst/>
              <a:ahLst/>
              <a:cxnLst/>
              <a:rect l="l" t="t" r="r" b="b"/>
              <a:pathLst>
                <a:path w="152400" h="317220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0076" y="0"/>
                  </a:lnTo>
                  <a:cubicBezTo>
                    <a:pt x="128905" y="0"/>
                    <a:pt x="152400" y="23495"/>
                    <a:pt x="152400" y="52324"/>
                  </a:cubicBezTo>
                  <a:lnTo>
                    <a:pt x="152400" y="3119882"/>
                  </a:lnTo>
                  <a:cubicBezTo>
                    <a:pt x="152400" y="3148838"/>
                    <a:pt x="128905" y="3172206"/>
                    <a:pt x="100076" y="3172206"/>
                  </a:cubicBezTo>
                  <a:lnTo>
                    <a:pt x="52324" y="3172206"/>
                  </a:lnTo>
                  <a:cubicBezTo>
                    <a:pt x="23368" y="3172206"/>
                    <a:pt x="0" y="3148711"/>
                    <a:pt x="0" y="3119882"/>
                  </a:cubicBezTo>
                  <a:close/>
                </a:path>
              </a:pathLst>
            </a:custGeom>
            <a:solidFill>
              <a:srgbClr val="F98AC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650910" y="6920208"/>
            <a:ext cx="2617289" cy="374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Monthly Charges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50911" y="7405097"/>
            <a:ext cx="7299569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Higher monthly charges correlated with increased churn probability. Customers paying premium rates showed 45% higher churn rates, possibly due to value perception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159" y="1096718"/>
            <a:ext cx="7034064" cy="84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SQL &amp; Behavioral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159" y="2494807"/>
            <a:ext cx="9460706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Advanced SQL queries extracted behavioral patterns that revealed deeper churn drivers beyond basic demographics. These insights provided actionable intelligence for retention strategy development.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7159" y="4169569"/>
            <a:ext cx="589064" cy="589064"/>
            <a:chOff x="0" y="0"/>
            <a:chExt cx="785419" cy="7854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85368" cy="785368"/>
            </a:xfrm>
            <a:custGeom>
              <a:avLst/>
              <a:gdLst/>
              <a:ahLst/>
              <a:cxnLst/>
              <a:rect l="l" t="t" r="r" b="b"/>
              <a:pathLst>
                <a:path w="785368" h="785368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733044" y="0"/>
                  </a:lnTo>
                  <a:cubicBezTo>
                    <a:pt x="762000" y="0"/>
                    <a:pt x="785368" y="23495"/>
                    <a:pt x="785368" y="52324"/>
                  </a:cubicBezTo>
                  <a:lnTo>
                    <a:pt x="785368" y="733044"/>
                  </a:lnTo>
                  <a:cubicBezTo>
                    <a:pt x="785368" y="762000"/>
                    <a:pt x="761873" y="785368"/>
                    <a:pt x="733044" y="785368"/>
                  </a:cubicBezTo>
                  <a:lnTo>
                    <a:pt x="52324" y="785368"/>
                  </a:lnTo>
                  <a:cubicBezTo>
                    <a:pt x="23495" y="785368"/>
                    <a:pt x="0" y="762000"/>
                    <a:pt x="0" y="733044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98009" y="4192791"/>
            <a:ext cx="255061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Complaint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8009" y="4782445"/>
            <a:ext cx="3715788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Churned customers averaged 2.8 complaints, compared to 0.4 for retained customers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941066" y="4169569"/>
            <a:ext cx="589064" cy="589064"/>
            <a:chOff x="0" y="0"/>
            <a:chExt cx="785419" cy="785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5368" cy="785368"/>
            </a:xfrm>
            <a:custGeom>
              <a:avLst/>
              <a:gdLst/>
              <a:ahLst/>
              <a:cxnLst/>
              <a:rect l="l" t="t" r="r" b="b"/>
              <a:pathLst>
                <a:path w="785368" h="785368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733044" y="0"/>
                  </a:lnTo>
                  <a:cubicBezTo>
                    <a:pt x="762000" y="0"/>
                    <a:pt x="785368" y="23495"/>
                    <a:pt x="785368" y="52324"/>
                  </a:cubicBezTo>
                  <a:lnTo>
                    <a:pt x="785368" y="733044"/>
                  </a:lnTo>
                  <a:cubicBezTo>
                    <a:pt x="785368" y="762000"/>
                    <a:pt x="761873" y="785368"/>
                    <a:pt x="733044" y="785368"/>
                  </a:cubicBezTo>
                  <a:lnTo>
                    <a:pt x="52324" y="785368"/>
                  </a:lnTo>
                  <a:cubicBezTo>
                    <a:pt x="23495" y="785368"/>
                    <a:pt x="0" y="762000"/>
                    <a:pt x="0" y="733044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91916" y="4192791"/>
            <a:ext cx="265196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Recharge Frequency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1916" y="4782445"/>
            <a:ext cx="3715941" cy="165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Irregular recharge patterns increased churn risk by 60% versus consistent monthly recharges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47159" y="7105059"/>
            <a:ext cx="589064" cy="589064"/>
            <a:chOff x="0" y="0"/>
            <a:chExt cx="785419" cy="7854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5368" cy="785368"/>
            </a:xfrm>
            <a:custGeom>
              <a:avLst/>
              <a:gdLst/>
              <a:ahLst/>
              <a:cxnLst/>
              <a:rect l="l" t="t" r="r" b="b"/>
              <a:pathLst>
                <a:path w="785368" h="785368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733044" y="0"/>
                  </a:lnTo>
                  <a:cubicBezTo>
                    <a:pt x="762000" y="0"/>
                    <a:pt x="785368" y="23495"/>
                    <a:pt x="785368" y="52324"/>
                  </a:cubicBezTo>
                  <a:lnTo>
                    <a:pt x="785368" y="733044"/>
                  </a:lnTo>
                  <a:cubicBezTo>
                    <a:pt x="785368" y="762000"/>
                    <a:pt x="761873" y="785368"/>
                    <a:pt x="733044" y="785368"/>
                  </a:cubicBezTo>
                  <a:lnTo>
                    <a:pt x="52324" y="785368"/>
                  </a:lnTo>
                  <a:cubicBezTo>
                    <a:pt x="23495" y="785368"/>
                    <a:pt x="0" y="762000"/>
                    <a:pt x="0" y="733044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898009" y="7128272"/>
            <a:ext cx="211127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Revenue at Risk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98009" y="7717927"/>
            <a:ext cx="8609857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Estimated ₹4.2 million monthly revenue exposure from identified at-risk segment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156156" y="2677563"/>
            <a:ext cx="6094209" cy="6094209"/>
            <a:chOff x="0" y="0"/>
            <a:chExt cx="8125612" cy="812561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8125587" cy="8125587"/>
            </a:xfrm>
            <a:custGeom>
              <a:avLst/>
              <a:gdLst/>
              <a:ahLst/>
              <a:cxnLst/>
              <a:rect l="l" t="t" r="r" b="b"/>
              <a:pathLst>
                <a:path w="8125587" h="8125587">
                  <a:moveTo>
                    <a:pt x="0" y="0"/>
                  </a:moveTo>
                  <a:lnTo>
                    <a:pt x="8125587" y="0"/>
                  </a:lnTo>
                  <a:lnTo>
                    <a:pt x="8125587" y="8125587"/>
                  </a:lnTo>
                  <a:lnTo>
                    <a:pt x="0" y="8125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159" y="1286323"/>
            <a:ext cx="9053810" cy="84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Development 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159" y="2579789"/>
            <a:ext cx="16193691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comparative modeling approach evaluated multiple machine learning algorithms to identify the optimal churn prediction solution. The methodology emphasized both predictive performance and business interpretability.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159" y="3711921"/>
            <a:ext cx="254050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7159" y="4252017"/>
            <a:ext cx="5223272" cy="28575"/>
            <a:chOff x="0" y="0"/>
            <a:chExt cx="6964362" cy="381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6964426" cy="38100"/>
            </a:xfrm>
            <a:custGeom>
              <a:avLst/>
              <a:gdLst/>
              <a:ahLst/>
              <a:cxnLst/>
              <a:rect l="l" t="t" r="r" b="b"/>
              <a:pathLst>
                <a:path w="6964426" h="38100">
                  <a:moveTo>
                    <a:pt x="0" y="0"/>
                  </a:moveTo>
                  <a:lnTo>
                    <a:pt x="6964426" y="0"/>
                  </a:lnTo>
                  <a:lnTo>
                    <a:pt x="6964426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3" b="-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7159" y="4373318"/>
            <a:ext cx="250031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Preprocessing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159" y="4858198"/>
            <a:ext cx="5223272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Handled missing values, encoded categorical variables, and standardized numerical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32216" y="3711921"/>
            <a:ext cx="254050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32216" y="4252017"/>
            <a:ext cx="5223424" cy="28575"/>
            <a:chOff x="0" y="0"/>
            <a:chExt cx="6964566" cy="3810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6964553" cy="38100"/>
            </a:xfrm>
            <a:custGeom>
              <a:avLst/>
              <a:gdLst/>
              <a:ahLst/>
              <a:cxnLst/>
              <a:rect l="l" t="t" r="r" b="b"/>
              <a:pathLst>
                <a:path w="6964553" h="38100">
                  <a:moveTo>
                    <a:pt x="0" y="0"/>
                  </a:moveTo>
                  <a:lnTo>
                    <a:pt x="6964553" y="0"/>
                  </a:lnTo>
                  <a:lnTo>
                    <a:pt x="696455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3" b="-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532216" y="4373318"/>
            <a:ext cx="203864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Train-Test Split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32216" y="4858198"/>
            <a:ext cx="5223424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80/20 split with stratification to maintain churn rate representation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17426" y="3711921"/>
            <a:ext cx="254050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17426" y="4252017"/>
            <a:ext cx="5223424" cy="28575"/>
            <a:chOff x="0" y="0"/>
            <a:chExt cx="6964566" cy="381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6964553" cy="38100"/>
            </a:xfrm>
            <a:custGeom>
              <a:avLst/>
              <a:gdLst/>
              <a:ahLst/>
              <a:cxnLst/>
              <a:rect l="l" t="t" r="r" b="b"/>
              <a:pathLst>
                <a:path w="6964553" h="38100">
                  <a:moveTo>
                    <a:pt x="0" y="0"/>
                  </a:moveTo>
                  <a:lnTo>
                    <a:pt x="6964553" y="0"/>
                  </a:lnTo>
                  <a:lnTo>
                    <a:pt x="696455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3" b="-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017426" y="4373318"/>
            <a:ext cx="263277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Imbalance Handling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17426" y="4858198"/>
            <a:ext cx="5223424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Applied SMOTE (Synthetic Minority Oversampling Technique) to address class imbalance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7159" y="6572698"/>
            <a:ext cx="254050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04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47159" y="7086752"/>
            <a:ext cx="7965872" cy="28575"/>
            <a:chOff x="0" y="0"/>
            <a:chExt cx="10621162" cy="38100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10621137" cy="38100"/>
            </a:xfrm>
            <a:custGeom>
              <a:avLst/>
              <a:gdLst/>
              <a:ahLst/>
              <a:cxnLst/>
              <a:rect l="l" t="t" r="r" b="b"/>
              <a:pathLst>
                <a:path w="10621137" h="38100">
                  <a:moveTo>
                    <a:pt x="0" y="0"/>
                  </a:moveTo>
                  <a:lnTo>
                    <a:pt x="10621137" y="0"/>
                  </a:lnTo>
                  <a:lnTo>
                    <a:pt x="106211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8" b="-1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47159" y="7234085"/>
            <a:ext cx="203596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Training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7159" y="7718974"/>
            <a:ext cx="7965872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Implemented Logistic Regression and Random Forest with hyperparameter tuning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74816" y="6572698"/>
            <a:ext cx="254050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05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74816" y="7086752"/>
            <a:ext cx="7966024" cy="28575"/>
            <a:chOff x="0" y="0"/>
            <a:chExt cx="10621366" cy="38100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10621391" cy="38100"/>
            </a:xfrm>
            <a:custGeom>
              <a:avLst/>
              <a:gdLst/>
              <a:ahLst/>
              <a:cxnLst/>
              <a:rect l="l" t="t" r="r" b="b"/>
              <a:pathLst>
                <a:path w="10621391" h="38100">
                  <a:moveTo>
                    <a:pt x="0" y="0"/>
                  </a:moveTo>
                  <a:lnTo>
                    <a:pt x="10621391" y="0"/>
                  </a:lnTo>
                  <a:lnTo>
                    <a:pt x="10621391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" b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274816" y="7234085"/>
            <a:ext cx="233749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Evaluation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74816" y="7718974"/>
            <a:ext cx="7966024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Assessed using accuracy, precision, recall, F1-score, and ROC-AUC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159" y="628802"/>
            <a:ext cx="8581430" cy="84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Performance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159" y="1922259"/>
            <a:ext cx="16193691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Both models demonstrated strong predictive capabilities, with Random Forest achieving superior performance across most evaluation metrics. The balanced accuracy and recall indicate reliable identification of both churn and non-churn cases.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2397" y="3173463"/>
            <a:ext cx="16203216" cy="4539853"/>
            <a:chOff x="0" y="0"/>
            <a:chExt cx="21604288" cy="60531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604351" cy="6053074"/>
            </a:xfrm>
            <a:custGeom>
              <a:avLst/>
              <a:gdLst/>
              <a:ahLst/>
              <a:cxnLst/>
              <a:rect l="l" t="t" r="r" b="b"/>
              <a:pathLst>
                <a:path w="21604351" h="6053074">
                  <a:moveTo>
                    <a:pt x="0" y="58674"/>
                  </a:moveTo>
                  <a:cubicBezTo>
                    <a:pt x="0" y="26289"/>
                    <a:pt x="26289" y="0"/>
                    <a:pt x="58801" y="0"/>
                  </a:cubicBezTo>
                  <a:lnTo>
                    <a:pt x="21545550" y="0"/>
                  </a:lnTo>
                  <a:lnTo>
                    <a:pt x="21545550" y="6350"/>
                  </a:lnTo>
                  <a:lnTo>
                    <a:pt x="21545550" y="0"/>
                  </a:lnTo>
                  <a:cubicBezTo>
                    <a:pt x="21578063" y="0"/>
                    <a:pt x="21604351" y="26289"/>
                    <a:pt x="21604351" y="58674"/>
                  </a:cubicBezTo>
                  <a:lnTo>
                    <a:pt x="21598001" y="58674"/>
                  </a:lnTo>
                  <a:lnTo>
                    <a:pt x="21604351" y="58674"/>
                  </a:lnTo>
                  <a:lnTo>
                    <a:pt x="21604351" y="5994400"/>
                  </a:lnTo>
                  <a:lnTo>
                    <a:pt x="21598001" y="5994400"/>
                  </a:lnTo>
                  <a:lnTo>
                    <a:pt x="21604351" y="5994400"/>
                  </a:lnTo>
                  <a:cubicBezTo>
                    <a:pt x="21604351" y="6026785"/>
                    <a:pt x="21578063" y="6053074"/>
                    <a:pt x="21545550" y="6053074"/>
                  </a:cubicBezTo>
                  <a:lnTo>
                    <a:pt x="21545550" y="6046724"/>
                  </a:lnTo>
                  <a:lnTo>
                    <a:pt x="21545550" y="6053074"/>
                  </a:lnTo>
                  <a:lnTo>
                    <a:pt x="58801" y="6053074"/>
                  </a:lnTo>
                  <a:lnTo>
                    <a:pt x="58801" y="6046724"/>
                  </a:lnTo>
                  <a:lnTo>
                    <a:pt x="58801" y="6053074"/>
                  </a:lnTo>
                  <a:cubicBezTo>
                    <a:pt x="26289" y="6053201"/>
                    <a:pt x="0" y="6026912"/>
                    <a:pt x="0" y="5994400"/>
                  </a:cubicBezTo>
                  <a:lnTo>
                    <a:pt x="0" y="58674"/>
                  </a:lnTo>
                  <a:lnTo>
                    <a:pt x="6350" y="58674"/>
                  </a:lnTo>
                  <a:lnTo>
                    <a:pt x="0" y="58674"/>
                  </a:lnTo>
                  <a:moveTo>
                    <a:pt x="12700" y="58674"/>
                  </a:moveTo>
                  <a:lnTo>
                    <a:pt x="12700" y="5994400"/>
                  </a:lnTo>
                  <a:lnTo>
                    <a:pt x="6350" y="5994400"/>
                  </a:lnTo>
                  <a:lnTo>
                    <a:pt x="12700" y="5994400"/>
                  </a:lnTo>
                  <a:cubicBezTo>
                    <a:pt x="12700" y="6019800"/>
                    <a:pt x="33274" y="6040374"/>
                    <a:pt x="58801" y="6040374"/>
                  </a:cubicBezTo>
                  <a:lnTo>
                    <a:pt x="21545550" y="6040374"/>
                  </a:lnTo>
                  <a:cubicBezTo>
                    <a:pt x="21571077" y="6040374"/>
                    <a:pt x="21591651" y="6019800"/>
                    <a:pt x="21591651" y="5994400"/>
                  </a:cubicBezTo>
                  <a:lnTo>
                    <a:pt x="21591651" y="58674"/>
                  </a:lnTo>
                  <a:cubicBezTo>
                    <a:pt x="21591651" y="33274"/>
                    <a:pt x="21571077" y="12700"/>
                    <a:pt x="21545550" y="12700"/>
                  </a:cubicBezTo>
                  <a:lnTo>
                    <a:pt x="58801" y="12700"/>
                  </a:lnTo>
                  <a:lnTo>
                    <a:pt x="58801" y="6350"/>
                  </a:lnTo>
                  <a:lnTo>
                    <a:pt x="58801" y="12700"/>
                  </a:lnTo>
                  <a:cubicBezTo>
                    <a:pt x="33274" y="12700"/>
                    <a:pt x="12700" y="33274"/>
                    <a:pt x="12700" y="58674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6684" y="3187751"/>
            <a:ext cx="16174641" cy="751884"/>
            <a:chOff x="0" y="0"/>
            <a:chExt cx="21566188" cy="10025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66251" cy="1002538"/>
            </a:xfrm>
            <a:custGeom>
              <a:avLst/>
              <a:gdLst/>
              <a:ahLst/>
              <a:cxnLst/>
              <a:rect l="l" t="t" r="r" b="b"/>
              <a:pathLst>
                <a:path w="21566251" h="1002538">
                  <a:moveTo>
                    <a:pt x="0" y="0"/>
                  </a:moveTo>
                  <a:lnTo>
                    <a:pt x="21566251" y="0"/>
                  </a:lnTo>
                  <a:lnTo>
                    <a:pt x="21566251" y="1002538"/>
                  </a:lnTo>
                  <a:lnTo>
                    <a:pt x="0" y="100253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8470" y="3230461"/>
            <a:ext cx="5941514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Metric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93088" y="3230461"/>
            <a:ext cx="4319292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Logistic Regression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45476" y="3230461"/>
            <a:ext cx="43240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Random Forest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56684" y="3939626"/>
            <a:ext cx="16174641" cy="751884"/>
            <a:chOff x="0" y="0"/>
            <a:chExt cx="21566188" cy="10025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566251" cy="1002538"/>
            </a:xfrm>
            <a:custGeom>
              <a:avLst/>
              <a:gdLst/>
              <a:ahLst/>
              <a:cxnLst/>
              <a:rect l="l" t="t" r="r" b="b"/>
              <a:pathLst>
                <a:path w="21566251" h="1002538">
                  <a:moveTo>
                    <a:pt x="0" y="0"/>
                  </a:moveTo>
                  <a:lnTo>
                    <a:pt x="21566251" y="0"/>
                  </a:lnTo>
                  <a:lnTo>
                    <a:pt x="21566251" y="1002538"/>
                  </a:lnTo>
                  <a:lnTo>
                    <a:pt x="0" y="1002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18470" y="3982345"/>
            <a:ext cx="5941514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93088" y="3982345"/>
            <a:ext cx="4319292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84.2%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45476" y="3982345"/>
            <a:ext cx="43240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87.6%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56684" y="4691510"/>
            <a:ext cx="16174641" cy="751884"/>
            <a:chOff x="0" y="0"/>
            <a:chExt cx="21566188" cy="10025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566251" cy="1002538"/>
            </a:xfrm>
            <a:custGeom>
              <a:avLst/>
              <a:gdLst/>
              <a:ahLst/>
              <a:cxnLst/>
              <a:rect l="l" t="t" r="r" b="b"/>
              <a:pathLst>
                <a:path w="21566251" h="1002538">
                  <a:moveTo>
                    <a:pt x="0" y="0"/>
                  </a:moveTo>
                  <a:lnTo>
                    <a:pt x="21566251" y="0"/>
                  </a:lnTo>
                  <a:lnTo>
                    <a:pt x="21566251" y="1002538"/>
                  </a:lnTo>
                  <a:lnTo>
                    <a:pt x="0" y="100253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18470" y="4734220"/>
            <a:ext cx="5941514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Precision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3088" y="4734220"/>
            <a:ext cx="4319292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79.8%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45476" y="4734220"/>
            <a:ext cx="43240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83.4%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56684" y="5443385"/>
            <a:ext cx="16174641" cy="751884"/>
            <a:chOff x="0" y="0"/>
            <a:chExt cx="21566188" cy="100251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566251" cy="1002538"/>
            </a:xfrm>
            <a:custGeom>
              <a:avLst/>
              <a:gdLst/>
              <a:ahLst/>
              <a:cxnLst/>
              <a:rect l="l" t="t" r="r" b="b"/>
              <a:pathLst>
                <a:path w="21566251" h="1002538">
                  <a:moveTo>
                    <a:pt x="0" y="0"/>
                  </a:moveTo>
                  <a:lnTo>
                    <a:pt x="21566251" y="0"/>
                  </a:lnTo>
                  <a:lnTo>
                    <a:pt x="21566251" y="1002538"/>
                  </a:lnTo>
                  <a:lnTo>
                    <a:pt x="0" y="1002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18470" y="5486105"/>
            <a:ext cx="5941514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Recall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93088" y="5486105"/>
            <a:ext cx="4319292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76.5%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45476" y="5486105"/>
            <a:ext cx="43240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81.2%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56684" y="6195270"/>
            <a:ext cx="16174641" cy="751884"/>
            <a:chOff x="0" y="0"/>
            <a:chExt cx="21566188" cy="100251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66251" cy="1002538"/>
            </a:xfrm>
            <a:custGeom>
              <a:avLst/>
              <a:gdLst/>
              <a:ahLst/>
              <a:cxnLst/>
              <a:rect l="l" t="t" r="r" b="b"/>
              <a:pathLst>
                <a:path w="21566251" h="1002538">
                  <a:moveTo>
                    <a:pt x="0" y="0"/>
                  </a:moveTo>
                  <a:lnTo>
                    <a:pt x="21566251" y="0"/>
                  </a:lnTo>
                  <a:lnTo>
                    <a:pt x="21566251" y="1002538"/>
                  </a:lnTo>
                  <a:lnTo>
                    <a:pt x="0" y="100253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18470" y="6237980"/>
            <a:ext cx="5941514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F1 Score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93088" y="6237980"/>
            <a:ext cx="4319292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78.1%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645476" y="6237980"/>
            <a:ext cx="43240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82.3%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56684" y="6947144"/>
            <a:ext cx="16174641" cy="751884"/>
            <a:chOff x="0" y="0"/>
            <a:chExt cx="21566188" cy="10025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566251" cy="1002538"/>
            </a:xfrm>
            <a:custGeom>
              <a:avLst/>
              <a:gdLst/>
              <a:ahLst/>
              <a:cxnLst/>
              <a:rect l="l" t="t" r="r" b="b"/>
              <a:pathLst>
                <a:path w="21566251" h="1002538">
                  <a:moveTo>
                    <a:pt x="0" y="0"/>
                  </a:moveTo>
                  <a:lnTo>
                    <a:pt x="21566251" y="0"/>
                  </a:lnTo>
                  <a:lnTo>
                    <a:pt x="21566251" y="1002538"/>
                  </a:lnTo>
                  <a:lnTo>
                    <a:pt x="0" y="1002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18470" y="6989864"/>
            <a:ext cx="5941514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ROC-AUC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93088" y="6989864"/>
            <a:ext cx="4319292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0.87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45476" y="6989864"/>
            <a:ext cx="43240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0.91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47159" y="8003086"/>
            <a:ext cx="16193691" cy="1531144"/>
            <a:chOff x="0" y="0"/>
            <a:chExt cx="21591588" cy="204152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591524" cy="2041398"/>
            </a:xfrm>
            <a:custGeom>
              <a:avLst/>
              <a:gdLst/>
              <a:ahLst/>
              <a:cxnLst/>
              <a:rect l="l" t="t" r="r" b="b"/>
              <a:pathLst>
                <a:path w="21591524" h="2041398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21539200" y="0"/>
                  </a:lnTo>
                  <a:cubicBezTo>
                    <a:pt x="21568156" y="0"/>
                    <a:pt x="21591524" y="23495"/>
                    <a:pt x="21591524" y="52324"/>
                  </a:cubicBezTo>
                  <a:lnTo>
                    <a:pt x="21591524" y="1989074"/>
                  </a:lnTo>
                  <a:cubicBezTo>
                    <a:pt x="21591524" y="2018030"/>
                    <a:pt x="21568029" y="2041398"/>
                    <a:pt x="21539200" y="2041398"/>
                  </a:cubicBezTo>
                  <a:lnTo>
                    <a:pt x="52324" y="2041398"/>
                  </a:lnTo>
                  <a:cubicBezTo>
                    <a:pt x="23368" y="2041398"/>
                    <a:pt x="0" y="2017903"/>
                    <a:pt x="0" y="1989074"/>
                  </a:cubicBezTo>
                  <a:close/>
                </a:path>
              </a:pathLst>
            </a:custGeom>
            <a:solidFill>
              <a:srgbClr val="49042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08945" y="8386762"/>
            <a:ext cx="327269" cy="261785"/>
            <a:chOff x="0" y="0"/>
            <a:chExt cx="436359" cy="349047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36372" cy="348996"/>
            </a:xfrm>
            <a:custGeom>
              <a:avLst/>
              <a:gdLst/>
              <a:ahLst/>
              <a:cxnLst/>
              <a:rect l="l" t="t" r="r" b="b"/>
              <a:pathLst>
                <a:path w="436372" h="348996">
                  <a:moveTo>
                    <a:pt x="0" y="0"/>
                  </a:moveTo>
                  <a:lnTo>
                    <a:pt x="436372" y="0"/>
                  </a:lnTo>
                  <a:lnTo>
                    <a:pt x="436372" y="348996"/>
                  </a:lnTo>
                  <a:lnTo>
                    <a:pt x="0" y="348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3" r="-363" b="-1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898009" y="8206378"/>
            <a:ext cx="15081047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Selected Model: Random Forest chosen for production deployment due to superior performance and ability to handle non-linear relationships in customer behavior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159" y="1704232"/>
            <a:ext cx="8599884" cy="84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Customer Segmentation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159" y="2997698"/>
            <a:ext cx="16193691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Based on predicted churn probability, customers were classified into three actionable segments, enabling targeted retention campaigns with appropriate messaging and incentives for each group.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7159" y="4253655"/>
            <a:ext cx="5223272" cy="4205135"/>
            <a:chOff x="0" y="0"/>
            <a:chExt cx="6964362" cy="56068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64299" cy="5606796"/>
            </a:xfrm>
            <a:custGeom>
              <a:avLst/>
              <a:gdLst/>
              <a:ahLst/>
              <a:cxnLst/>
              <a:rect l="l" t="t" r="r" b="b"/>
              <a:pathLst>
                <a:path w="6964299" h="560679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6911975" y="0"/>
                  </a:lnTo>
                  <a:cubicBezTo>
                    <a:pt x="6940931" y="0"/>
                    <a:pt x="6964299" y="23495"/>
                    <a:pt x="6964299" y="52324"/>
                  </a:cubicBezTo>
                  <a:lnTo>
                    <a:pt x="6964299" y="5554472"/>
                  </a:lnTo>
                  <a:cubicBezTo>
                    <a:pt x="6964299" y="5583428"/>
                    <a:pt x="6940804" y="5606796"/>
                    <a:pt x="6911975" y="5606796"/>
                  </a:cubicBezTo>
                  <a:lnTo>
                    <a:pt x="52324" y="5606796"/>
                  </a:lnTo>
                  <a:cubicBezTo>
                    <a:pt x="23368" y="5606796"/>
                    <a:pt x="0" y="5583301"/>
                    <a:pt x="0" y="555447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08945" y="4515441"/>
            <a:ext cx="785365" cy="785365"/>
            <a:chOff x="0" y="0"/>
            <a:chExt cx="1047153" cy="10471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7115" cy="1047115"/>
            </a:xfrm>
            <a:custGeom>
              <a:avLst/>
              <a:gdLst/>
              <a:ahLst/>
              <a:cxnLst/>
              <a:rect l="l" t="t" r="r" b="b"/>
              <a:pathLst>
                <a:path w="1047115" h="1047115">
                  <a:moveTo>
                    <a:pt x="0" y="523621"/>
                  </a:moveTo>
                  <a:cubicBezTo>
                    <a:pt x="0" y="234442"/>
                    <a:pt x="234442" y="0"/>
                    <a:pt x="523621" y="0"/>
                  </a:cubicBezTo>
                  <a:cubicBezTo>
                    <a:pt x="812800" y="0"/>
                    <a:pt x="1047115" y="234442"/>
                    <a:pt x="1047115" y="523621"/>
                  </a:cubicBezTo>
                  <a:cubicBezTo>
                    <a:pt x="1047115" y="812800"/>
                    <a:pt x="812800" y="1047115"/>
                    <a:pt x="523621" y="1047115"/>
                  </a:cubicBezTo>
                  <a:cubicBezTo>
                    <a:pt x="234442" y="1047115"/>
                    <a:pt x="0" y="812800"/>
                    <a:pt x="0" y="523621"/>
                  </a:cubicBezTo>
                  <a:close/>
                </a:path>
              </a:pathLst>
            </a:custGeom>
            <a:solidFill>
              <a:srgbClr val="FF6B6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524895" y="4731391"/>
            <a:ext cx="353320" cy="353320"/>
          </a:xfrm>
          <a:custGeom>
            <a:avLst/>
            <a:gdLst/>
            <a:ahLst/>
            <a:cxnLst/>
            <a:rect l="l" t="t" r="r" b="b"/>
            <a:pathLst>
              <a:path w="353320" h="353320">
                <a:moveTo>
                  <a:pt x="0" y="0"/>
                </a:moveTo>
                <a:lnTo>
                  <a:pt x="353321" y="0"/>
                </a:lnTo>
                <a:lnTo>
                  <a:pt x="353321" y="353321"/>
                </a:lnTo>
                <a:lnTo>
                  <a:pt x="0" y="3533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262" r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308945" y="5486400"/>
            <a:ext cx="1216968" cy="51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 Risk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8945" y="6057900"/>
            <a:ext cx="4699692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churn probability (&gt;70%)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8945" y="6633715"/>
            <a:ext cx="4699692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Immediate intervention required</a:t>
            </a:r>
          </a:p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Personalized retention offers</a:t>
            </a:r>
          </a:p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Priority customer service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32216" y="4253655"/>
            <a:ext cx="5223424" cy="4205135"/>
            <a:chOff x="0" y="0"/>
            <a:chExt cx="6964566" cy="560684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64553" cy="5606796"/>
            </a:xfrm>
            <a:custGeom>
              <a:avLst/>
              <a:gdLst/>
              <a:ahLst/>
              <a:cxnLst/>
              <a:rect l="l" t="t" r="r" b="b"/>
              <a:pathLst>
                <a:path w="6964553" h="560679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6912229" y="0"/>
                  </a:lnTo>
                  <a:cubicBezTo>
                    <a:pt x="6941186" y="0"/>
                    <a:pt x="6964553" y="23495"/>
                    <a:pt x="6964553" y="52324"/>
                  </a:cubicBezTo>
                  <a:lnTo>
                    <a:pt x="6964553" y="5554472"/>
                  </a:lnTo>
                  <a:cubicBezTo>
                    <a:pt x="6964553" y="5583428"/>
                    <a:pt x="6941058" y="5606796"/>
                    <a:pt x="6912229" y="5606796"/>
                  </a:cubicBezTo>
                  <a:lnTo>
                    <a:pt x="52324" y="5606796"/>
                  </a:lnTo>
                  <a:cubicBezTo>
                    <a:pt x="23368" y="5606796"/>
                    <a:pt x="0" y="5583301"/>
                    <a:pt x="0" y="555447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94002" y="4515441"/>
            <a:ext cx="785365" cy="785365"/>
            <a:chOff x="0" y="0"/>
            <a:chExt cx="1047153" cy="10471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7115" cy="1047115"/>
            </a:xfrm>
            <a:custGeom>
              <a:avLst/>
              <a:gdLst/>
              <a:ahLst/>
              <a:cxnLst/>
              <a:rect l="l" t="t" r="r" b="b"/>
              <a:pathLst>
                <a:path w="1047115" h="1047115">
                  <a:moveTo>
                    <a:pt x="0" y="523621"/>
                  </a:moveTo>
                  <a:cubicBezTo>
                    <a:pt x="0" y="234442"/>
                    <a:pt x="234442" y="0"/>
                    <a:pt x="523621" y="0"/>
                  </a:cubicBezTo>
                  <a:cubicBezTo>
                    <a:pt x="812800" y="0"/>
                    <a:pt x="1047115" y="234442"/>
                    <a:pt x="1047115" y="523621"/>
                  </a:cubicBezTo>
                  <a:cubicBezTo>
                    <a:pt x="1047115" y="812800"/>
                    <a:pt x="812800" y="1047115"/>
                    <a:pt x="523621" y="1047115"/>
                  </a:cubicBezTo>
                  <a:cubicBezTo>
                    <a:pt x="234442" y="1047115"/>
                    <a:pt x="0" y="812800"/>
                    <a:pt x="0" y="523621"/>
                  </a:cubicBezTo>
                  <a:close/>
                </a:path>
              </a:pathLst>
            </a:custGeom>
            <a:solidFill>
              <a:srgbClr val="FFD93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7009952" y="4731391"/>
            <a:ext cx="353320" cy="353320"/>
          </a:xfrm>
          <a:custGeom>
            <a:avLst/>
            <a:gdLst/>
            <a:ahLst/>
            <a:cxnLst/>
            <a:rect l="l" t="t" r="r" b="b"/>
            <a:pathLst>
              <a:path w="353320" h="353320">
                <a:moveTo>
                  <a:pt x="0" y="0"/>
                </a:moveTo>
                <a:lnTo>
                  <a:pt x="353321" y="0"/>
                </a:lnTo>
                <a:lnTo>
                  <a:pt x="353321" y="353321"/>
                </a:lnTo>
                <a:lnTo>
                  <a:pt x="0" y="353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262" r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6794002" y="5486400"/>
            <a:ext cx="1740398" cy="45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Dormant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94002" y="6057900"/>
            <a:ext cx="469984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Moderate churn probability (30-70%)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94002" y="6633715"/>
            <a:ext cx="4699845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Proactive engagement</a:t>
            </a:r>
          </a:p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Value communication</a:t>
            </a:r>
          </a:p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Win-back campaigns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17426" y="4253655"/>
            <a:ext cx="5223424" cy="4205135"/>
            <a:chOff x="0" y="0"/>
            <a:chExt cx="6964566" cy="56068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64553" cy="5606796"/>
            </a:xfrm>
            <a:custGeom>
              <a:avLst/>
              <a:gdLst/>
              <a:ahLst/>
              <a:cxnLst/>
              <a:rect l="l" t="t" r="r" b="b"/>
              <a:pathLst>
                <a:path w="6964553" h="560679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6912229" y="0"/>
                  </a:lnTo>
                  <a:cubicBezTo>
                    <a:pt x="6941186" y="0"/>
                    <a:pt x="6964553" y="23495"/>
                    <a:pt x="6964553" y="52324"/>
                  </a:cubicBezTo>
                  <a:lnTo>
                    <a:pt x="6964553" y="5554472"/>
                  </a:lnTo>
                  <a:cubicBezTo>
                    <a:pt x="6964553" y="5583428"/>
                    <a:pt x="6941058" y="5606796"/>
                    <a:pt x="6912229" y="5606796"/>
                  </a:cubicBezTo>
                  <a:lnTo>
                    <a:pt x="52324" y="5606796"/>
                  </a:lnTo>
                  <a:cubicBezTo>
                    <a:pt x="23368" y="5606796"/>
                    <a:pt x="0" y="5583301"/>
                    <a:pt x="0" y="555447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279211" y="4515441"/>
            <a:ext cx="785365" cy="785365"/>
            <a:chOff x="0" y="0"/>
            <a:chExt cx="1047153" cy="104715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7115" cy="1047115"/>
            </a:xfrm>
            <a:custGeom>
              <a:avLst/>
              <a:gdLst/>
              <a:ahLst/>
              <a:cxnLst/>
              <a:rect l="l" t="t" r="r" b="b"/>
              <a:pathLst>
                <a:path w="1047115" h="1047115">
                  <a:moveTo>
                    <a:pt x="0" y="523621"/>
                  </a:moveTo>
                  <a:cubicBezTo>
                    <a:pt x="0" y="234442"/>
                    <a:pt x="234442" y="0"/>
                    <a:pt x="523621" y="0"/>
                  </a:cubicBezTo>
                  <a:cubicBezTo>
                    <a:pt x="812800" y="0"/>
                    <a:pt x="1047115" y="234442"/>
                    <a:pt x="1047115" y="523621"/>
                  </a:cubicBezTo>
                  <a:cubicBezTo>
                    <a:pt x="1047115" y="812800"/>
                    <a:pt x="812800" y="1047115"/>
                    <a:pt x="523621" y="1047115"/>
                  </a:cubicBezTo>
                  <a:cubicBezTo>
                    <a:pt x="234442" y="1047115"/>
                    <a:pt x="0" y="812800"/>
                    <a:pt x="0" y="523621"/>
                  </a:cubicBezTo>
                  <a:close/>
                </a:path>
              </a:pathLst>
            </a:custGeom>
            <a:solidFill>
              <a:srgbClr val="4ECDC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12495162" y="4731391"/>
            <a:ext cx="353320" cy="353320"/>
          </a:xfrm>
          <a:custGeom>
            <a:avLst/>
            <a:gdLst/>
            <a:ahLst/>
            <a:cxnLst/>
            <a:rect l="l" t="t" r="r" b="b"/>
            <a:pathLst>
              <a:path w="353320" h="353320">
                <a:moveTo>
                  <a:pt x="0" y="0"/>
                </a:moveTo>
                <a:lnTo>
                  <a:pt x="353320" y="0"/>
                </a:lnTo>
                <a:lnTo>
                  <a:pt x="353320" y="353321"/>
                </a:lnTo>
                <a:lnTo>
                  <a:pt x="0" y="3533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12279211" y="5486400"/>
            <a:ext cx="909191" cy="51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Loyal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79211" y="6057900"/>
            <a:ext cx="469984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 churn probability (&lt;30%)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79211" y="6633715"/>
            <a:ext cx="4699845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Relationship nurturing</a:t>
            </a:r>
          </a:p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Upsell opportunities</a:t>
            </a:r>
          </a:p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Referral programs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4331" y="596951"/>
            <a:ext cx="1105837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Strategic Recommendations &amp;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4331" y="1487986"/>
            <a:ext cx="4837212" cy="684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Recommendations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15756" y="2597496"/>
            <a:ext cx="7994152" cy="57150"/>
            <a:chOff x="0" y="0"/>
            <a:chExt cx="10658869" cy="762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658856" cy="76200"/>
            </a:xfrm>
            <a:custGeom>
              <a:avLst/>
              <a:gdLst/>
              <a:ahLst/>
              <a:cxnLst/>
              <a:rect l="l" t="t" r="r" b="b"/>
              <a:pathLst>
                <a:path w="10658856" h="76200">
                  <a:moveTo>
                    <a:pt x="0" y="0"/>
                  </a:moveTo>
                  <a:lnTo>
                    <a:pt x="10658856" y="0"/>
                  </a:lnTo>
                  <a:lnTo>
                    <a:pt x="10658856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" b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44331" y="2849013"/>
            <a:ext cx="4218682" cy="374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Contract Conversion Program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4331" y="3331959"/>
            <a:ext cx="7937002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Launch incentives to convert month-to-month users to 12-month contracts, reducing churn risk through commitment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78093" y="2597496"/>
            <a:ext cx="7994152" cy="57150"/>
            <a:chOff x="0" y="0"/>
            <a:chExt cx="10658869" cy="762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0658856" cy="76200"/>
            </a:xfrm>
            <a:custGeom>
              <a:avLst/>
              <a:gdLst/>
              <a:ahLst/>
              <a:cxnLst/>
              <a:rect l="l" t="t" r="r" b="b"/>
              <a:pathLst>
                <a:path w="10658856" h="76200">
                  <a:moveTo>
                    <a:pt x="0" y="0"/>
                  </a:moveTo>
                  <a:lnTo>
                    <a:pt x="10658856" y="0"/>
                  </a:lnTo>
                  <a:lnTo>
                    <a:pt x="10658856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" b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306668" y="2849013"/>
            <a:ext cx="470296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Complaint Resolution Enhancement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06668" y="3331959"/>
            <a:ext cx="7937002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 24-hour response SLA and escalation protocols to improve service quality and customer satisfaction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15756" y="4810420"/>
            <a:ext cx="7994152" cy="57150"/>
            <a:chOff x="0" y="0"/>
            <a:chExt cx="10658869" cy="762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0658856" cy="76200"/>
            </a:xfrm>
            <a:custGeom>
              <a:avLst/>
              <a:gdLst/>
              <a:ahLst/>
              <a:cxnLst/>
              <a:rect l="l" t="t" r="r" b="b"/>
              <a:pathLst>
                <a:path w="10658856" h="76200">
                  <a:moveTo>
                    <a:pt x="0" y="0"/>
                  </a:moveTo>
                  <a:lnTo>
                    <a:pt x="10658856" y="0"/>
                  </a:lnTo>
                  <a:lnTo>
                    <a:pt x="10658856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" b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44330" y="5061947"/>
            <a:ext cx="4518269" cy="374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New Customer Loyalty Program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4331" y="5544893"/>
            <a:ext cx="7937002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Introduce rewards for first 6 months to improve early retention and reduce initial churn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78093" y="4810420"/>
            <a:ext cx="7994152" cy="57150"/>
            <a:chOff x="0" y="0"/>
            <a:chExt cx="10658869" cy="762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0658856" cy="76200"/>
            </a:xfrm>
            <a:custGeom>
              <a:avLst/>
              <a:gdLst/>
              <a:ahLst/>
              <a:cxnLst/>
              <a:rect l="l" t="t" r="r" b="b"/>
              <a:pathLst>
                <a:path w="10658856" h="76200">
                  <a:moveTo>
                    <a:pt x="0" y="0"/>
                  </a:moveTo>
                  <a:lnTo>
                    <a:pt x="10658856" y="0"/>
                  </a:lnTo>
                  <a:lnTo>
                    <a:pt x="10658856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" b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306668" y="5061947"/>
            <a:ext cx="389170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At-Risk Customer Campaigns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06668" y="5544893"/>
            <a:ext cx="7937002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 personalized offers and retention packages specifically for identified high-risk segment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4331" y="6788496"/>
            <a:ext cx="3929062" cy="684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>
                <a:solidFill>
                  <a:srgbClr val="F98AC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Project Conclusion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4331" y="7774191"/>
            <a:ext cx="16199348" cy="165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D6E5E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churn analysis demonstrates the effectiveness of machine learning in predicting customer attrition with high accuracy. The explainable Random Forest model provides business-friendly insights that support data-driven retention decisions. By implementing targeted strategies based on customer segmentation, the organization can reduce revenue loss and improve customer lifetime value. Future enhancements could include real-time prediction integration and automated intervention triggers.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902</Words>
  <Application>Microsoft Office PowerPoint</Application>
  <PresentationFormat>Custom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Canva Sans Bold</vt:lpstr>
      <vt:lpstr>Arial</vt:lpstr>
      <vt:lpstr>Calibri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Customer-Churn-Analysis-Telecom-Industry.pptx</dc:title>
  <cp:lastModifiedBy>Nigam Mehta</cp:lastModifiedBy>
  <cp:revision>4</cp:revision>
  <dcterms:created xsi:type="dcterms:W3CDTF">2006-08-16T00:00:00Z</dcterms:created>
  <dcterms:modified xsi:type="dcterms:W3CDTF">2026-03-03T12:36:56Z</dcterms:modified>
  <dc:identifier>DAHC5Ih3YHg</dc:identifier>
</cp:coreProperties>
</file>